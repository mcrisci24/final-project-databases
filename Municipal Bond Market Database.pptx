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IBM Plex Sans"/>
      <p:regular r:id="rId16"/>
      <p:bold r:id="rId17"/>
      <p:italic r:id="rId18"/>
      <p:boldItalic r:id="rId19"/>
    </p:embeddedFont>
    <p:embeddedFont>
      <p:font typeface="IBM Plex Sans Light"/>
      <p:regular r:id="rId20"/>
      <p:bold r:id="rId21"/>
      <p:italic r:id="rId22"/>
      <p:boldItalic r:id="rId23"/>
    </p:embeddedFont>
    <p:embeddedFont>
      <p:font typeface="IBM Plex Sans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Light-regular.fntdata"/><Relationship Id="rId22" Type="http://schemas.openxmlformats.org/officeDocument/2006/relationships/font" Target="fonts/IBMPlexSansLight-italic.fntdata"/><Relationship Id="rId21" Type="http://schemas.openxmlformats.org/officeDocument/2006/relationships/font" Target="fonts/IBMPlexSansLight-bold.fntdata"/><Relationship Id="rId24" Type="http://schemas.openxmlformats.org/officeDocument/2006/relationships/font" Target="fonts/IBMPlexSansMedium-regular.fntdata"/><Relationship Id="rId23" Type="http://schemas.openxmlformats.org/officeDocument/2006/relationships/font" Target="fonts/IBMPlexSans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BMPlexSansMedium-italic.fntdata"/><Relationship Id="rId25" Type="http://schemas.openxmlformats.org/officeDocument/2006/relationships/font" Target="fonts/IBMPlexSansMedium-bold.fntdata"/><Relationship Id="rId27" Type="http://schemas.openxmlformats.org/officeDocument/2006/relationships/font" Target="fonts/IBMPlexSans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BMPlexSans-bold.fntdata"/><Relationship Id="rId16" Type="http://schemas.openxmlformats.org/officeDocument/2006/relationships/font" Target="fonts/IBMPlexSans-regular.fntdata"/><Relationship Id="rId19" Type="http://schemas.openxmlformats.org/officeDocument/2006/relationships/font" Target="fonts/IBMPlexSans-boldItalic.fntdata"/><Relationship Id="rId18" Type="http://schemas.openxmlformats.org/officeDocument/2006/relationships/font" Target="fonts/IBMPlex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c86b5de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c86b5de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c86b5de43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ac86b5de43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c90f2a07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c90f2a07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c86b5de43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ac86b5de43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ac86b5de43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ac86b5de43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ac86b5de43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ac86b5de43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c90f2a07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c90f2a0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c90f2a07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ac90f2a07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ac86b5de43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ac86b5de43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7" name="Google Shape;57;p14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8" name="Google Shape;58;p14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59" name="Google Shape;59;p14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4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4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2" name="Google Shape;62;p14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3" name="Google Shape;63;p14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6" name="Google Shape;66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" name="Google Shape;71;p15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7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93" name="Google Shape;93;p17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7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17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7" name="Google Shape;97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7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8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8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8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5" name="Google Shape;135;p18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6" name="Google Shape;136;p18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7" name="Google Shape;137;p18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8" name="Google Shape;138;p18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9" name="Google Shape;139;p18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1" name="Google Shape;141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8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9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46" name="Google Shape;146;p19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8" name="Google Shape;148;p19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50" name="Google Shape;150;p19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9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" name="Google Shape;152;p19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53" name="Google Shape;153;p19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19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5" name="Google Shape;155;p19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19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8" name="Google Shape;158;p19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19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1" name="Google Shape;161;p19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19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4" name="Google Shape;164;p19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19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19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19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19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0" name="Google Shape;170;p19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19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2" name="Google Shape;172;p19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4" name="Google Shape;174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9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0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179" name="Google Shape;179;p20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87" name="Google Shape;187;p20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1" name="Google Shape;191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2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96" name="Google Shape;196;p21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197" name="Google Shape;197;p21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99" name="Google Shape;199;p21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21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" name="Google Shape;201;p21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04" name="Google Shape;204;p2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2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2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2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9" name="Google Shape;219;p22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20" name="Google Shape;220;p2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" name="Google Shape;221;p2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2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2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3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23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7" name="Google Shape;237;p24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238" name="Google Shape;238;p24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9" name="Google Shape;239;p24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41" name="Google Shape;241;p24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4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43" name="Google Shape;243;p24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4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1" name="Google Shape;251;p2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4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25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25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9" name="Google Shape;259;p25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0" name="Google Shape;260;p25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1" name="Google Shape;261;p25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3" name="Google Shape;263;p25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4" name="Google Shape;264;p25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2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6" name="Google Shape;266;p2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5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" name="Google Shape;268;p25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3" name="Google Shape;273;p26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26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26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26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2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9" name="Google Shape;279;p2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6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26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26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26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26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8" name="Google Shape;288;p2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7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28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1" name="Google Shape;301;p2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8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28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28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29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9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9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9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4" name="Google Shape;314;p2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29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30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p30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30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30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30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30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30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30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30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9" name="Google Shape;329;p3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0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31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0" name="Google Shape;340;p31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2" name="Google Shape;342;p31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344" name="Google Shape;344;p31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345" name="Google Shape;345;p3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46" name="Google Shape;346;p3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48" name="Google Shape;348;p3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9" name="Google Shape;349;p3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31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31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54" name="Google Shape;354;p32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5" name="Google Shape;355;p3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6" name="Google Shape;356;p32"/>
          <p:cNvGrpSpPr/>
          <p:nvPr/>
        </p:nvGrpSpPr>
        <p:grpSpPr>
          <a:xfrm>
            <a:off x="4617928" y="-2295175"/>
            <a:ext cx="8097623" cy="8097300"/>
            <a:chOff x="4617928" y="-2295175"/>
            <a:chExt cx="8097623" cy="8097300"/>
          </a:xfrm>
        </p:grpSpPr>
        <p:sp>
          <p:nvSpPr>
            <p:cNvPr id="357" name="Google Shape;357;p32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63" name="Google Shape;363;p3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3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5" name="Google Shape;365;p3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68" name="Google Shape;368;p3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9" name="Google Shape;369;p3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3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1" name="Google Shape;371;p3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72" name="Google Shape;372;p33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373" name="Google Shape;373;p33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4" name="Google Shape;374;p33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5" name="Google Shape;375;p33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76" name="Google Shape;376;p33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3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78" name="Google Shape;378;p33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81" name="Google Shape;38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6" name="Google Shape;38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9" name="Google Shape;389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0" name="Google Shape;390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95" name="Google Shape;395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00" name="Google Shape;400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1" name="Google Shape;401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8" name="Google Shape;418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22" name="Google Shape;422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8" name="Google Shape;428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9" name="Google Shape;429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30" name="Google Shape;430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7" name="Google Shape;437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8" name="Google Shape;438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40" name="Google Shape;440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9" name="Google Shape;449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2" name="Google Shape;4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3" name="Google Shape;453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4" name="Google Shape;454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7" name="Google Shape;457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0" name="Google Shape;460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2" name="Google Shape;46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3" name="Google Shape;463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5" name="Google Shape;465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6" name="Google Shape;476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theme" Target="../theme/theme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</p:sldLayoutIdLst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5"/>
          <p:cNvSpPr txBox="1"/>
          <p:nvPr>
            <p:ph type="title"/>
          </p:nvPr>
        </p:nvSpPr>
        <p:spPr>
          <a:xfrm>
            <a:off x="436725" y="713750"/>
            <a:ext cx="4827900" cy="1747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Municipal Bond Market Database</a:t>
            </a:r>
            <a:endParaRPr/>
          </a:p>
        </p:txBody>
      </p:sp>
      <p:sp>
        <p:nvSpPr>
          <p:cNvPr id="484" name="Google Shape;484;p55"/>
          <p:cNvSpPr txBox="1"/>
          <p:nvPr>
            <p:ph idx="1" type="subTitle"/>
          </p:nvPr>
        </p:nvSpPr>
        <p:spPr>
          <a:xfrm>
            <a:off x="789225" y="3243898"/>
            <a:ext cx="4346700" cy="7554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Mark Crisci (ER and Data Story), Muhammed Altindal (Key Insights and Reflection), and Avery Bishop (Research Question and Why)</a:t>
            </a:r>
            <a:endParaRPr sz="1400"/>
          </a:p>
        </p:txBody>
      </p:sp>
      <p:sp>
        <p:nvSpPr>
          <p:cNvPr id="485" name="Google Shape;485;p55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12/1/2025</a:t>
            </a:r>
            <a:endParaRPr/>
          </a:p>
        </p:txBody>
      </p:sp>
      <p:sp>
        <p:nvSpPr>
          <p:cNvPr id="486" name="Google Shape;486;p5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55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College of Florida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6"/>
          <p:cNvSpPr txBox="1"/>
          <p:nvPr>
            <p:ph type="title"/>
          </p:nvPr>
        </p:nvSpPr>
        <p:spPr>
          <a:xfrm>
            <a:off x="436725" y="647525"/>
            <a:ext cx="77391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Picture-Research Question</a:t>
            </a:r>
            <a:endParaRPr/>
          </a:p>
        </p:txBody>
      </p:sp>
      <p:sp>
        <p:nvSpPr>
          <p:cNvPr id="493" name="Google Shape;493;p5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56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12/1/2025</a:t>
            </a:r>
            <a:endParaRPr/>
          </a:p>
        </p:txBody>
      </p:sp>
      <p:sp>
        <p:nvSpPr>
          <p:cNvPr id="495" name="Google Shape;495;p56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College of Florida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6"/>
          <p:cNvSpPr txBox="1"/>
          <p:nvPr/>
        </p:nvSpPr>
        <p:spPr>
          <a:xfrm>
            <a:off x="344025" y="1494750"/>
            <a:ext cx="7924500" cy="21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W</a:t>
            </a:r>
            <a:r>
              <a:rPr b="1" lang="en" sz="3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hich states and issuer groups dominate municipal bond issuance, and what trends in coupon rates, liquidity, credit sentiment, and risk can we observe?</a:t>
            </a:r>
            <a:endParaRPr b="1" sz="2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7"/>
          <p:cNvSpPr txBox="1"/>
          <p:nvPr>
            <p:ph type="title"/>
          </p:nvPr>
        </p:nvSpPr>
        <p:spPr>
          <a:xfrm>
            <a:off x="436725" y="647525"/>
            <a:ext cx="67209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Picture-Why?</a:t>
            </a:r>
            <a:endParaRPr/>
          </a:p>
        </p:txBody>
      </p:sp>
      <p:sp>
        <p:nvSpPr>
          <p:cNvPr id="502" name="Google Shape;502;p57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12/1/25</a:t>
            </a:r>
            <a:endParaRPr/>
          </a:p>
        </p:txBody>
      </p:sp>
      <p:sp>
        <p:nvSpPr>
          <p:cNvPr id="503" name="Google Shape;503;p57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College of Florida</a:t>
            </a:r>
            <a:endParaRPr/>
          </a:p>
        </p:txBody>
      </p:sp>
      <p:sp>
        <p:nvSpPr>
          <p:cNvPr id="504" name="Google Shape;504;p5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5" name="Google Shape;505;p57"/>
          <p:cNvSpPr txBox="1"/>
          <p:nvPr/>
        </p:nvSpPr>
        <p:spPr>
          <a:xfrm>
            <a:off x="356200" y="1378125"/>
            <a:ext cx="7924500" cy="22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IBM Plex Sans"/>
              <a:buChar char="-"/>
            </a:pPr>
            <a:r>
              <a:rPr lang="en" sz="3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Investors understanding of high-risk and undervalued bonds</a:t>
            </a:r>
            <a:endParaRPr sz="3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IBM Plex Sans"/>
              <a:buChar char="-"/>
            </a:pPr>
            <a:r>
              <a:rPr lang="en" sz="3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Highlighting which states borrow, their frequency and cost</a:t>
            </a:r>
            <a:endParaRPr sz="3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8"/>
          <p:cNvSpPr txBox="1"/>
          <p:nvPr>
            <p:ph type="title"/>
          </p:nvPr>
        </p:nvSpPr>
        <p:spPr>
          <a:xfrm>
            <a:off x="3063300" y="26550"/>
            <a:ext cx="2718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</a:t>
            </a:r>
            <a:endParaRPr/>
          </a:p>
        </p:txBody>
      </p:sp>
      <p:sp>
        <p:nvSpPr>
          <p:cNvPr id="511" name="Google Shape;511;p5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58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12/1/2025</a:t>
            </a:r>
            <a:endParaRPr/>
          </a:p>
        </p:txBody>
      </p:sp>
      <p:sp>
        <p:nvSpPr>
          <p:cNvPr id="513" name="Google Shape;513;p58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College of Florida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4" name="Google Shape;51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100" y="580650"/>
            <a:ext cx="7550404" cy="442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9"/>
          <p:cNvSpPr txBox="1"/>
          <p:nvPr>
            <p:ph type="title"/>
          </p:nvPr>
        </p:nvSpPr>
        <p:spPr>
          <a:xfrm>
            <a:off x="436725" y="647525"/>
            <a:ext cx="2718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Story</a:t>
            </a:r>
            <a:endParaRPr/>
          </a:p>
        </p:txBody>
      </p:sp>
      <p:sp>
        <p:nvSpPr>
          <p:cNvPr id="520" name="Google Shape;520;p5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59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12/1/2025</a:t>
            </a:r>
            <a:endParaRPr/>
          </a:p>
        </p:txBody>
      </p:sp>
      <p:sp>
        <p:nvSpPr>
          <p:cNvPr id="522" name="Google Shape;522;p59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College of Florida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9"/>
          <p:cNvSpPr txBox="1"/>
          <p:nvPr/>
        </p:nvSpPr>
        <p:spPr>
          <a:xfrm>
            <a:off x="-1889200" y="1208425"/>
            <a:ext cx="751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4" name="Google Shape;524;p59"/>
          <p:cNvSpPr txBox="1"/>
          <p:nvPr/>
        </p:nvSpPr>
        <p:spPr>
          <a:xfrm>
            <a:off x="356200" y="1378125"/>
            <a:ext cx="7924500" cy="28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BM Plex Sans"/>
              <a:buChar char="-"/>
            </a:pPr>
            <a:r>
              <a:rPr lang="en" sz="29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Joined bonds, issuers, purposes, trades, and ratings, filtered latest ratings and dates</a:t>
            </a:r>
            <a:endParaRPr sz="29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BM Plex Sans"/>
              <a:buChar char="-"/>
            </a:pPr>
            <a:r>
              <a:rPr lang="en" sz="29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Challenge: selecting only most recent credit rating for each bond while joining and aggregating yields</a:t>
            </a:r>
            <a:endParaRPr sz="29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0"/>
          <p:cNvSpPr txBox="1"/>
          <p:nvPr>
            <p:ph type="title"/>
          </p:nvPr>
        </p:nvSpPr>
        <p:spPr>
          <a:xfrm>
            <a:off x="436725" y="457188"/>
            <a:ext cx="2718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</a:t>
            </a:r>
            <a:endParaRPr/>
          </a:p>
        </p:txBody>
      </p:sp>
      <p:sp>
        <p:nvSpPr>
          <p:cNvPr id="530" name="Google Shape;530;p6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1" name="Google Shape;531;p6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12/1/2025</a:t>
            </a:r>
            <a:endParaRPr/>
          </a:p>
        </p:txBody>
      </p:sp>
      <p:sp>
        <p:nvSpPr>
          <p:cNvPr id="532" name="Google Shape;532;p6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College of Florida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50" y="1107526"/>
            <a:ext cx="8793702" cy="3914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1"/>
          <p:cNvSpPr txBox="1"/>
          <p:nvPr>
            <p:ph type="title"/>
          </p:nvPr>
        </p:nvSpPr>
        <p:spPr>
          <a:xfrm>
            <a:off x="436725" y="553413"/>
            <a:ext cx="2718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</a:t>
            </a:r>
            <a:endParaRPr/>
          </a:p>
        </p:txBody>
      </p:sp>
      <p:sp>
        <p:nvSpPr>
          <p:cNvPr id="539" name="Google Shape;539;p6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61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12/1/2025</a:t>
            </a:r>
            <a:endParaRPr/>
          </a:p>
        </p:txBody>
      </p:sp>
      <p:sp>
        <p:nvSpPr>
          <p:cNvPr id="541" name="Google Shape;541;p61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College of Florida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2" name="Google Shape;54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75" y="1386712"/>
            <a:ext cx="9020449" cy="29444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"/>
          <p:cNvSpPr txBox="1"/>
          <p:nvPr>
            <p:ph type="title"/>
          </p:nvPr>
        </p:nvSpPr>
        <p:spPr>
          <a:xfrm>
            <a:off x="436725" y="553413"/>
            <a:ext cx="2718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</a:t>
            </a:r>
            <a:endParaRPr/>
          </a:p>
        </p:txBody>
      </p:sp>
      <p:sp>
        <p:nvSpPr>
          <p:cNvPr id="548" name="Google Shape;548;p6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9" name="Google Shape;549;p6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12/1/2025</a:t>
            </a:r>
            <a:endParaRPr/>
          </a:p>
        </p:txBody>
      </p:sp>
      <p:sp>
        <p:nvSpPr>
          <p:cNvPr id="550" name="Google Shape;550;p6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College of Florida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312" y="1201650"/>
            <a:ext cx="8567377" cy="382532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3"/>
          <p:cNvSpPr txBox="1"/>
          <p:nvPr>
            <p:ph type="title"/>
          </p:nvPr>
        </p:nvSpPr>
        <p:spPr>
          <a:xfrm>
            <a:off x="436725" y="647525"/>
            <a:ext cx="2718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</a:t>
            </a:r>
            <a:endParaRPr/>
          </a:p>
        </p:txBody>
      </p:sp>
      <p:sp>
        <p:nvSpPr>
          <p:cNvPr id="557" name="Google Shape;557;p6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63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12/1/2025</a:t>
            </a:r>
            <a:endParaRPr/>
          </a:p>
        </p:txBody>
      </p:sp>
      <p:sp>
        <p:nvSpPr>
          <p:cNvPr id="559" name="Google Shape;559;p63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College of Florida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63"/>
          <p:cNvSpPr txBox="1"/>
          <p:nvPr/>
        </p:nvSpPr>
        <p:spPr>
          <a:xfrm>
            <a:off x="290925" y="1201625"/>
            <a:ext cx="7924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BM Plex Sans"/>
              <a:buChar char="-"/>
            </a:pPr>
            <a:r>
              <a:rPr lang="en" sz="29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Surprising</a:t>
            </a:r>
            <a:r>
              <a:rPr lang="en" sz="29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to see some bonds trading for notably lower than their historical averages</a:t>
            </a:r>
            <a:endParaRPr sz="29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BM Plex Sans"/>
              <a:buChar char="-"/>
            </a:pPr>
            <a:r>
              <a:rPr lang="en" sz="29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Extension: Seeing whether macroeconomic factors directly impact bond </a:t>
            </a:r>
            <a:r>
              <a:rPr lang="en" sz="29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yields</a:t>
            </a:r>
            <a:r>
              <a:rPr lang="en" sz="29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across states</a:t>
            </a:r>
            <a:endParaRPr sz="29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BM Plex Sans"/>
              <a:buChar char="-"/>
            </a:pPr>
            <a:r>
              <a:rPr lang="en" sz="29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 understanding of how highlighting trends brought upon by joining datasets can lead to actionable knowledge</a:t>
            </a:r>
            <a:endParaRPr sz="29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